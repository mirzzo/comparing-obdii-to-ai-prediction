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9" r:id="rId4"/>
    <p:sldId id="266" r:id="rId5"/>
    <p:sldId id="267" r:id="rId6"/>
    <p:sldId id="268" r:id="rId7"/>
    <p:sldId id="262" r:id="rId8"/>
    <p:sldId id="269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417" autoAdjust="0"/>
  </p:normalViewPr>
  <p:slideViewPr>
    <p:cSldViewPr snapToGrid="0">
      <p:cViewPr varScale="1">
        <p:scale>
          <a:sx n="102" d="100"/>
          <a:sy n="102" d="100"/>
        </p:scale>
        <p:origin x="9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s-Latn-B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47CB56-6923-408B-89AA-9BE15F5BB681}" type="datetimeFigureOut">
              <a:rPr lang="bs-Latn-BA" smtClean="0"/>
              <a:t>25. 3. 2026.</a:t>
            </a:fld>
            <a:endParaRPr lang="bs-Latn-B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s-Latn-B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s-Latn-B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1FBD43-FD36-4430-AD51-01DBCAC2766A}" type="slidenum">
              <a:rPr lang="bs-Latn-BA" smtClean="0"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2842762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1FBD43-FD36-4430-AD51-01DBCAC2766A}" type="slidenum">
              <a:rPr lang="bs-Latn-BA" smtClean="0"/>
              <a:t>1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3084107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1FBD43-FD36-4430-AD51-01DBCAC2766A}" type="slidenum">
              <a:rPr lang="bs-Latn-BA" smtClean="0"/>
              <a:t>2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3343182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1FBD43-FD36-4430-AD51-01DBCAC2766A}" type="slidenum">
              <a:rPr lang="bs-Latn-BA" smtClean="0"/>
              <a:t>3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4086405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786B8-303D-4C6A-346B-795C3B7A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167A81-C01A-F22A-C9CF-56473B482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C3E15-8693-49DE-B69B-58C893E01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AA81A-9E82-D276-AAB6-38C1E2DE2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1FBD43-FD36-4430-AD51-01DBCAC2766A}" type="slidenum">
              <a:rPr lang="bs-Latn-BA" smtClean="0"/>
              <a:t>4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503667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F0284-2277-20E5-25BC-5AD5B676F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5C0A6-25F3-031E-576E-76CAFB08E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B81B2-D27A-41CB-665C-681731768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E627F-6724-B7D7-B547-919B4ECFF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1FBD43-FD36-4430-AD51-01DBCAC2766A}" type="slidenum">
              <a:rPr lang="bs-Latn-BA" smtClean="0"/>
              <a:t>5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508998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1FBD43-FD36-4430-AD51-01DBCAC2766A}" type="slidenum">
              <a:rPr lang="bs-Latn-BA" smtClean="0"/>
              <a:t>7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3194287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9906C-EA08-064D-6D8E-A921502C5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3FF7D6-6847-0EE5-5824-54E53F1DF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37CE9-0797-5F0A-4F66-660C2F503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8AA5B-4915-68CE-8CA7-631E4D617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1FBD43-FD36-4430-AD51-01DBCAC2766A}" type="slidenum">
              <a:rPr lang="bs-Latn-BA" smtClean="0"/>
              <a:t>8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226971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1FBD43-FD36-4430-AD51-01DBCAC2766A}" type="slidenum">
              <a:rPr lang="bs-Latn-BA" smtClean="0"/>
              <a:t>9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792606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1FBD43-FD36-4430-AD51-01DBCAC2766A}" type="slidenum">
              <a:rPr lang="bs-Latn-BA" smtClean="0"/>
              <a:t>10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2788918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737D489-C664-4EFE-842C-67220ADF5006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B370A2-DEDA-4A83-A20A-685D39FC5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217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D489-C664-4EFE-842C-67220ADF5006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0A2-DEDA-4A83-A20A-685D39FC5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772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D489-C664-4EFE-842C-67220ADF5006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0A2-DEDA-4A83-A20A-685D39FC5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228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D489-C664-4EFE-842C-67220ADF5006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0A2-DEDA-4A83-A20A-685D39FC5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8109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D489-C664-4EFE-842C-67220ADF5006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0A2-DEDA-4A83-A20A-685D39FC5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83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D489-C664-4EFE-842C-67220ADF5006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0A2-DEDA-4A83-A20A-685D39FC5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582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D489-C664-4EFE-842C-67220ADF5006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0A2-DEDA-4A83-A20A-685D39FC5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700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D489-C664-4EFE-842C-67220ADF5006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0A2-DEDA-4A83-A20A-685D39FC5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5133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D489-C664-4EFE-842C-67220ADF5006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0A2-DEDA-4A83-A20A-685D39FC5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462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ska 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D489-C664-4EFE-842C-67220ADF5006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0A2-DEDA-4A83-A20A-685D39FC5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086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 i 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D489-C664-4EFE-842C-67220ADF5006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0A2-DEDA-4A83-A20A-685D39FC5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311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D489-C664-4EFE-842C-67220ADF5006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0A2-DEDA-4A83-A20A-685D39FC5DB6}" type="slidenum">
              <a:rPr lang="en-GB" smtClean="0"/>
              <a:t>‹#›</a:t>
            </a:fld>
            <a:endParaRPr lang="en-GB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6591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D489-C664-4EFE-842C-67220ADF5006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0A2-DEDA-4A83-A20A-685D39FC5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31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up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D489-C664-4EFE-842C-67220ADF5006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0A2-DEDA-4A83-A20A-685D39FC5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138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upca sa slik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D489-C664-4EFE-842C-67220ADF5006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0A2-DEDA-4A83-A20A-685D39FC5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776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D489-C664-4EFE-842C-67220ADF5006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0A2-DEDA-4A83-A20A-685D39FC5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4089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D489-C664-4EFE-842C-67220ADF5006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0A2-DEDA-4A83-A20A-685D39FC5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68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7D489-C664-4EFE-842C-67220ADF5006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370A2-DEDA-4A83-A20A-685D39FC5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6550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A409567-2CDC-7B7E-E170-249D5B331A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Comparison of Traditional OBD-II Diagnostic Software and AI-Based Systems for Predictive Vehicle Maintenance</a:t>
            </a:r>
            <a:endParaRPr lang="bs-Latn-BA" sz="3200" dirty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77E68B42-DCCB-CD1C-15BF-505A2F00B1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bs-Latn-BA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Mirza rujanac (ib210020)</a:t>
            </a:r>
            <a:endParaRPr lang="bs-Latn-BA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654577-6789-F8B8-66FC-0D373ACCD46A}"/>
              </a:ext>
            </a:extLst>
          </p:cNvPr>
          <p:cNvSpPr txBox="1"/>
          <p:nvPr/>
        </p:nvSpPr>
        <p:spPr>
          <a:xfrm>
            <a:off x="1952623" y="6488668"/>
            <a:ext cx="4143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s-Latn-BA" dirty="0"/>
              <a:t>Metodologija stručnog rada – 25.</a:t>
            </a:r>
            <a:r>
              <a:rPr lang="en-GB" dirty="0"/>
              <a:t>0</a:t>
            </a:r>
            <a:r>
              <a:rPr lang="bs-Latn-BA" dirty="0"/>
              <a:t>3.2026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1DB2CA-84E4-F4B7-3B25-ECAFE9AA45E1}"/>
              </a:ext>
            </a:extLst>
          </p:cNvPr>
          <p:cNvSpPr txBox="1"/>
          <p:nvPr/>
        </p:nvSpPr>
        <p:spPr>
          <a:xfrm>
            <a:off x="8881533" y="6488668"/>
            <a:ext cx="3310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s-Latn-BA" dirty="0"/>
              <a:t>Fakultet informacijskih tehnologija</a:t>
            </a:r>
          </a:p>
        </p:txBody>
      </p:sp>
    </p:spTree>
    <p:extLst>
      <p:ext uri="{BB962C8B-B14F-4D97-AF65-F5344CB8AC3E}">
        <p14:creationId xmlns:p14="http://schemas.microsoft.com/office/powerpoint/2010/main" val="276469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CFEAEFD-3A9A-2F21-CFF0-892B9DD41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anchor="ctr">
            <a:normAutofit/>
          </a:bodyPr>
          <a:lstStyle/>
          <a:p>
            <a:r>
              <a:rPr lang="bs-Latn-BA" dirty="0"/>
              <a:t>Problem and motivation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9433DB3-7658-079A-7B5A-0C899B847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10085914" cy="3541714"/>
          </a:xfrm>
        </p:spPr>
        <p:txBody>
          <a:bodyPr>
            <a:normAutofit/>
          </a:bodyPr>
          <a:lstStyle/>
          <a:p>
            <a:r>
              <a:rPr lang="bs-Latn-BA" dirty="0"/>
              <a:t>More vehicle complexity</a:t>
            </a:r>
          </a:p>
          <a:p>
            <a:r>
              <a:rPr lang="bs-Latn-BA" dirty="0"/>
              <a:t>Need for fast &amp; accurate diagnostics</a:t>
            </a:r>
          </a:p>
          <a:p>
            <a:r>
              <a:rPr lang="bs-Latn-BA" dirty="0"/>
              <a:t>T</a:t>
            </a:r>
            <a:r>
              <a:rPr lang="en-US" dirty="0" err="1"/>
              <a:t>raditional</a:t>
            </a:r>
            <a:r>
              <a:rPr lang="en-US" dirty="0"/>
              <a:t> diagnostics detect faults </a:t>
            </a:r>
            <a:r>
              <a:rPr lang="en-US" b="1" dirty="0"/>
              <a:t>after</a:t>
            </a:r>
            <a:r>
              <a:rPr lang="en-US" dirty="0"/>
              <a:t> abnormal behavior is recognized</a:t>
            </a:r>
            <a:endParaRPr lang="bs-Latn-BA" dirty="0"/>
          </a:p>
          <a:p>
            <a:r>
              <a:rPr lang="en-US" dirty="0"/>
              <a:t>AI aims to predict failures </a:t>
            </a:r>
            <a:r>
              <a:rPr lang="en-US" b="1" dirty="0"/>
              <a:t>before</a:t>
            </a:r>
            <a:r>
              <a:rPr lang="en-US" dirty="0"/>
              <a:t> they become </a:t>
            </a:r>
            <a:r>
              <a:rPr lang="en-US" dirty="0" err="1"/>
              <a:t>critica</a:t>
            </a:r>
            <a:r>
              <a:rPr lang="bs-Latn-BA" dirty="0"/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415086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E96D583-8FD8-42F8-8505-34E59A4A9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anchor="ctr">
            <a:normAutofit/>
          </a:bodyPr>
          <a:lstStyle/>
          <a:p>
            <a:r>
              <a:rPr lang="en-US" dirty="0"/>
              <a:t>OBD-II Diagnostics</a:t>
            </a:r>
            <a:endParaRPr lang="bs-Latn-BA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F35869D7-A01E-1717-0F0D-966DD51A5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397262"/>
            <a:ext cx="5165122" cy="3541714"/>
          </a:xfrm>
        </p:spPr>
        <p:txBody>
          <a:bodyPr>
            <a:normAutofit/>
          </a:bodyPr>
          <a:lstStyle/>
          <a:p>
            <a:r>
              <a:rPr lang="bs-Latn-BA" dirty="0"/>
              <a:t>Reads Diagnostic Trouble Codes (DTC)</a:t>
            </a:r>
            <a:endParaRPr lang="en-GB" dirty="0"/>
          </a:p>
          <a:p>
            <a:r>
              <a:rPr lang="bs-Latn-BA" dirty="0"/>
              <a:t>Shows:</a:t>
            </a:r>
          </a:p>
          <a:p>
            <a:pPr lvl="1"/>
            <a:r>
              <a:rPr lang="bs-Latn-BA" dirty="0"/>
              <a:t>Stored fault codes</a:t>
            </a:r>
          </a:p>
          <a:p>
            <a:pPr lvl="1"/>
            <a:r>
              <a:rPr lang="bs-Latn-BA" dirty="0"/>
              <a:t>Freeze-frame data</a:t>
            </a:r>
          </a:p>
          <a:p>
            <a:pPr lvl="1"/>
            <a:r>
              <a:rPr lang="bs-Latn-BA" dirty="0"/>
              <a:t>Live sensor data</a:t>
            </a:r>
          </a:p>
          <a:p>
            <a:r>
              <a:rPr lang="bs-Latn-BA" dirty="0"/>
              <a:t>Standardized and widely used</a:t>
            </a:r>
          </a:p>
          <a:p>
            <a:r>
              <a:rPr lang="bs-Latn-BA" dirty="0"/>
              <a:t>Useful as the first step in diagnosis</a:t>
            </a:r>
          </a:p>
        </p:txBody>
      </p:sp>
    </p:spTree>
    <p:extLst>
      <p:ext uri="{BB962C8B-B14F-4D97-AF65-F5344CB8AC3E}">
        <p14:creationId xmlns:p14="http://schemas.microsoft.com/office/powerpoint/2010/main" val="3077619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2055B3-01BB-3CD2-8013-EC9E03AF2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2D6B02E-0FFE-3B07-34BA-A2F87D00C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anchor="ctr">
            <a:normAutofit/>
          </a:bodyPr>
          <a:lstStyle/>
          <a:p>
            <a:r>
              <a:rPr lang="en-US" dirty="0"/>
              <a:t>AI-Based Predictive Maintenance</a:t>
            </a:r>
            <a:endParaRPr lang="bs-Latn-BA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E7D4CC1-AC25-4C4A-7419-019839FE08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397262"/>
            <a:ext cx="4878389" cy="3541714"/>
          </a:xfrm>
        </p:spPr>
        <p:txBody>
          <a:bodyPr>
            <a:normAutofit/>
          </a:bodyPr>
          <a:lstStyle/>
          <a:p>
            <a:r>
              <a:rPr lang="en-US" dirty="0"/>
              <a:t>Uses historical + real-time data</a:t>
            </a:r>
            <a:endParaRPr lang="bs-Latn-BA" dirty="0"/>
          </a:p>
          <a:p>
            <a:r>
              <a:rPr lang="en-US" dirty="0"/>
              <a:t>Detects abnormal patterns earlier</a:t>
            </a:r>
            <a:endParaRPr lang="bs-Latn-BA" dirty="0"/>
          </a:p>
          <a:p>
            <a:r>
              <a:rPr lang="en-US" dirty="0"/>
              <a:t>Estimates degradation / failure risk</a:t>
            </a:r>
            <a:endParaRPr lang="bs-Latn-BA" dirty="0"/>
          </a:p>
          <a:p>
            <a:r>
              <a:rPr lang="en-US" dirty="0"/>
              <a:t>Supports maintenance planning</a:t>
            </a:r>
            <a:endParaRPr lang="bs-Latn-BA" dirty="0"/>
          </a:p>
        </p:txBody>
      </p:sp>
    </p:spTree>
    <p:extLst>
      <p:ext uri="{BB962C8B-B14F-4D97-AF65-F5344CB8AC3E}">
        <p14:creationId xmlns:p14="http://schemas.microsoft.com/office/powerpoint/2010/main" val="905292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DE252B-630F-F88B-5CDA-26172353E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4733751-0411-DC52-A875-B07164DE4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anchor="ctr">
            <a:normAutofit/>
          </a:bodyPr>
          <a:lstStyle/>
          <a:p>
            <a:r>
              <a:rPr lang="bs-Latn-BA" dirty="0"/>
              <a:t>SCANia component x dataset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BB41659-D947-4537-432F-034E011F73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2742" y="2397262"/>
            <a:ext cx="4878389" cy="3541714"/>
          </a:xfrm>
        </p:spPr>
        <p:txBody>
          <a:bodyPr>
            <a:normAutofit/>
          </a:bodyPr>
          <a:lstStyle/>
          <a:p>
            <a:r>
              <a:rPr lang="en-US" dirty="0"/>
              <a:t>Real-world predictive maintenance dataset</a:t>
            </a:r>
            <a:endParaRPr lang="bs-Latn-BA" dirty="0"/>
          </a:p>
          <a:p>
            <a:r>
              <a:rPr lang="en-US" dirty="0"/>
              <a:t>Based on:</a:t>
            </a:r>
          </a:p>
          <a:p>
            <a:pPr lvl="1"/>
            <a:r>
              <a:rPr lang="en-US" dirty="0"/>
              <a:t>sensor data </a:t>
            </a:r>
          </a:p>
          <a:p>
            <a:pPr lvl="1"/>
            <a:r>
              <a:rPr lang="en-US" dirty="0"/>
              <a:t>repair history </a:t>
            </a:r>
          </a:p>
          <a:p>
            <a:pPr lvl="1"/>
            <a:r>
              <a:rPr lang="en-US" dirty="0"/>
              <a:t>vehicle specifications</a:t>
            </a:r>
          </a:p>
          <a:p>
            <a:endParaRPr lang="bs-Latn-B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517F40-EDFD-1810-4C36-AEB175FD8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440" y="2435634"/>
            <a:ext cx="6622182" cy="198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142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5487D-F395-4B14-637B-AE95BF7FA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dirty="0"/>
              <a:t>SCANIA COMPONENT X DATASET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AA88D5C-69DF-4CE4-F20F-AE98097DFE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280937"/>
            <a:ext cx="4875213" cy="1478814"/>
          </a:xfrm>
          <a:prstGeom prst="rect">
            <a:avLst/>
          </a:prstGeom>
        </p:spPr>
      </p:pic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02C8625-0C69-2658-F745-C2D6CC287A2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31408731"/>
              </p:ext>
            </p:extLst>
          </p:nvPr>
        </p:nvGraphicFramePr>
        <p:xfrm>
          <a:off x="1141413" y="2249488"/>
          <a:ext cx="4878384" cy="2788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13064">
                  <a:extLst>
                    <a:ext uri="{9D8B030D-6E8A-4147-A177-3AD203B41FA5}">
                      <a16:colId xmlns:a16="http://schemas.microsoft.com/office/drawing/2014/main" val="1015105653"/>
                    </a:ext>
                  </a:extLst>
                </a:gridCol>
                <a:gridCol w="813064">
                  <a:extLst>
                    <a:ext uri="{9D8B030D-6E8A-4147-A177-3AD203B41FA5}">
                      <a16:colId xmlns:a16="http://schemas.microsoft.com/office/drawing/2014/main" val="143347521"/>
                    </a:ext>
                  </a:extLst>
                </a:gridCol>
                <a:gridCol w="813064">
                  <a:extLst>
                    <a:ext uri="{9D8B030D-6E8A-4147-A177-3AD203B41FA5}">
                      <a16:colId xmlns:a16="http://schemas.microsoft.com/office/drawing/2014/main" val="2353933582"/>
                    </a:ext>
                  </a:extLst>
                </a:gridCol>
                <a:gridCol w="813064">
                  <a:extLst>
                    <a:ext uri="{9D8B030D-6E8A-4147-A177-3AD203B41FA5}">
                      <a16:colId xmlns:a16="http://schemas.microsoft.com/office/drawing/2014/main" val="34002753"/>
                    </a:ext>
                  </a:extLst>
                </a:gridCol>
                <a:gridCol w="813064">
                  <a:extLst>
                    <a:ext uri="{9D8B030D-6E8A-4147-A177-3AD203B41FA5}">
                      <a16:colId xmlns:a16="http://schemas.microsoft.com/office/drawing/2014/main" val="12084344"/>
                    </a:ext>
                  </a:extLst>
                </a:gridCol>
                <a:gridCol w="813064">
                  <a:extLst>
                    <a:ext uri="{9D8B030D-6E8A-4147-A177-3AD203B41FA5}">
                      <a16:colId xmlns:a16="http://schemas.microsoft.com/office/drawing/2014/main" val="37321571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/>
                        <a:t>Time-to-failure window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Risk band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Reactive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Recommended 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MIL expected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055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/>
                        <a:t>&gt;48 time 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/>
                        <a:t>Clear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No immediate 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Usually Off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323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/>
                        <a:t>24–48 time 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Monitor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Monitor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Monitor vehicle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Usually Off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222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12–24 time 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/>
                        <a:t>Advisory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Pending 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Schedule inspection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Usually Off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820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6–12 time 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Warning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Confirmed 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Service soon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Usually 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5829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0–6 time 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Critical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Critical 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/>
                        <a:t>Immediate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/>
                        <a:t>Usually 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9684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5839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724C3F-E2F1-26A3-AC6E-014020D1E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dirty="0"/>
              <a:t>REACtive baseline calculation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E2160D1-D8A2-1C16-B764-86C357AE57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=max(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−3.0, 0)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en-US" b="1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standardized deviation of signal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anomaly contribution of signal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= total anomaly score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E2160D1-D8A2-1C16-B764-86C357AE57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3" t="-1549" b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6080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84D928-F019-9D3C-74B2-EE088676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CBC5AB-345A-49F9-BF8E-56F1EF35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dirty="0"/>
              <a:t>analysis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AFFA23-B9ED-5416-E029-82ED22B09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96" y="2097088"/>
            <a:ext cx="10603832" cy="348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801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81A6D33-AA58-FBBA-823E-D408AFBB7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bs-Latn-BA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D5CFABE-F8EE-8204-33C6-F4210EB3F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OBD-II diagnostics remain important in everyday vehicle servicing</a:t>
            </a:r>
            <a:endParaRPr lang="bs-Latn-BA" dirty="0"/>
          </a:p>
          <a:p>
            <a:r>
              <a:rPr lang="en-US" dirty="0"/>
              <a:t>AI-based predictive maintenance offers earlier fault detection</a:t>
            </a:r>
            <a:endParaRPr lang="bs-Latn-BA" dirty="0"/>
          </a:p>
          <a:p>
            <a:r>
              <a:rPr lang="en-US" dirty="0"/>
              <a:t>OBD-II is reactive, while AI is proactive</a:t>
            </a:r>
            <a:endParaRPr lang="bs-Latn-BA" dirty="0"/>
          </a:p>
          <a:p>
            <a:r>
              <a:rPr lang="en-US" dirty="0"/>
              <a:t>The best future solution is combining both approaches</a:t>
            </a:r>
            <a:endParaRPr lang="bs-Latn-BA" dirty="0"/>
          </a:p>
          <a:p>
            <a:r>
              <a:rPr lang="en-US" dirty="0"/>
              <a:t>AI will likely play a major role in next-generation vehicle maintenance</a:t>
            </a:r>
            <a:endParaRPr lang="bs-Latn-BA" dirty="0"/>
          </a:p>
        </p:txBody>
      </p:sp>
    </p:spTree>
    <p:extLst>
      <p:ext uri="{BB962C8B-B14F-4D97-AF65-F5344CB8AC3E}">
        <p14:creationId xmlns:p14="http://schemas.microsoft.com/office/powerpoint/2010/main" val="2911208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slov 1">
            <a:extLst>
              <a:ext uri="{FF2B5EF4-FFF2-40B4-BE49-F238E27FC236}">
                <a16:creationId xmlns:a16="http://schemas.microsoft.com/office/drawing/2014/main" id="{2BD2509E-D62E-B16F-41D6-56AF7E48F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89715"/>
            <a:ext cx="9905998" cy="1478570"/>
          </a:xfrm>
        </p:spPr>
        <p:txBody>
          <a:bodyPr/>
          <a:lstStyle/>
          <a:p>
            <a:pPr algn="ctr"/>
            <a:r>
              <a:rPr lang="en-GB" dirty="0"/>
              <a:t>Thank</a:t>
            </a:r>
            <a:r>
              <a:rPr lang="bs-Latn-BA" dirty="0"/>
              <a:t> YOU</a:t>
            </a:r>
            <a:r>
              <a:rPr lang="en-GB" dirty="0"/>
              <a:t> for </a:t>
            </a:r>
            <a:r>
              <a:rPr lang="bs-Latn-BA" dirty="0"/>
              <a:t>your </a:t>
            </a:r>
            <a:r>
              <a:rPr lang="en-GB" dirty="0"/>
              <a:t>attention!</a:t>
            </a:r>
            <a:endParaRPr lang="bs-Latn-BA" dirty="0"/>
          </a:p>
        </p:txBody>
      </p:sp>
    </p:spTree>
    <p:extLst>
      <p:ext uri="{BB962C8B-B14F-4D97-AF65-F5344CB8AC3E}">
        <p14:creationId xmlns:p14="http://schemas.microsoft.com/office/powerpoint/2010/main" val="6937924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1">
  <a:themeElements>
    <a:clrScheme name="Kružnica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Kružnic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ružnica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8D0FA517-B005-4DE0-A7B4-6C0222749DF5}" vid="{4BDA9AFA-311C-42A9-8DEC-A9E9DA0FB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384</TotalTime>
  <Words>294</Words>
  <Application>Microsoft Office PowerPoint</Application>
  <PresentationFormat>Widescreen</PresentationFormat>
  <Paragraphs>89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Cambria Math</vt:lpstr>
      <vt:lpstr>Tw Cen MT</vt:lpstr>
      <vt:lpstr>Tema1</vt:lpstr>
      <vt:lpstr>Comparison of Traditional OBD-II Diagnostic Software and AI-Based Systems for Predictive Vehicle Maintenance</vt:lpstr>
      <vt:lpstr>Problem and motivation</vt:lpstr>
      <vt:lpstr>OBD-II Diagnostics</vt:lpstr>
      <vt:lpstr>AI-Based Predictive Maintenance</vt:lpstr>
      <vt:lpstr>SCANia component x dataset</vt:lpstr>
      <vt:lpstr>SCANIA COMPONENT X DATASET</vt:lpstr>
      <vt:lpstr>REACtive baseline calculation</vt:lpstr>
      <vt:lpstr>analysis</vt:lpstr>
      <vt:lpstr>Conclusion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Ešref Pivčić</dc:creator>
  <cp:lastModifiedBy>Mirza Rujanac</cp:lastModifiedBy>
  <cp:revision>9</cp:revision>
  <dcterms:created xsi:type="dcterms:W3CDTF">2024-07-11T16:53:23Z</dcterms:created>
  <dcterms:modified xsi:type="dcterms:W3CDTF">2026-03-25T12:27:47Z</dcterms:modified>
</cp:coreProperties>
</file>